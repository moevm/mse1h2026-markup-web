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notesMasterIdLst>
    <p:notesMasterId r:id="rId14"/>
  </p:notesMasterIdLst>
  <p:sldIdLst>
    <p:sldId id="256" r:id="rId2"/>
    <p:sldId id="257" r:id="rId3"/>
    <p:sldId id="266" r:id="rId4"/>
    <p:sldId id="26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765" autoAdjust="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C81A7-ABF7-468F-8267-D77D020F9728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145D43-E68F-46B6-8F4B-684023D156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6560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45D43-E68F-46B6-8F4B-684023D1568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6597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3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45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39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28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000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90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720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952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638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852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952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AF33DB-8963-AAC9-C0C3-D126DCDBA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4600" dirty="0"/>
              <a:t>Интеллектуальная система разметки изображений</a:t>
            </a:r>
            <a:br>
              <a:rPr lang="ru-RU" sz="4600" dirty="0"/>
            </a:br>
            <a:r>
              <a:rPr lang="ru-RU" sz="4600" dirty="0"/>
              <a:t>(</a:t>
            </a:r>
            <a:r>
              <a:rPr lang="en-US" sz="4600" dirty="0"/>
              <a:t>markup-web)</a:t>
            </a:r>
            <a:br>
              <a:rPr lang="ru-RU" sz="4600" dirty="0"/>
            </a:br>
            <a:endParaRPr lang="ru-RU" sz="4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C88FD21-64CA-19C6-B1B3-6D36F0170D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4551" y="3383607"/>
            <a:ext cx="5322013" cy="1005657"/>
          </a:xfrm>
        </p:spPr>
        <p:txBody>
          <a:bodyPr>
            <a:normAutofit/>
          </a:bodyPr>
          <a:lstStyle/>
          <a:p>
            <a:r>
              <a:rPr lang="ru-RU" sz="2800" dirty="0"/>
              <a:t>Итерация 1</a:t>
            </a:r>
          </a:p>
          <a:p>
            <a:endParaRPr lang="ru-RU" dirty="0"/>
          </a:p>
        </p:txBody>
      </p:sp>
      <p:pic>
        <p:nvPicPr>
          <p:cNvPr id="4" name="Picture 3" descr="Изображение выглядит как шаблон, Симметрия, дизайн, оберточная бумаг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99ECEC8-04ED-A974-E476-C96CC506E6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895" r="19127" b="-1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49CEEDA9-83E5-C5F0-300E-3B0532A54C24}"/>
              </a:ext>
            </a:extLst>
          </p:cNvPr>
          <p:cNvSpPr txBox="1">
            <a:spLocks/>
          </p:cNvSpPr>
          <p:nvPr/>
        </p:nvSpPr>
        <p:spPr>
          <a:xfrm>
            <a:off x="5626430" y="4220110"/>
            <a:ext cx="6184570" cy="221237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Команда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Басик</a:t>
            </a:r>
            <a:r>
              <a:rPr lang="ru-RU" dirty="0"/>
              <a:t> В. В. 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Березовский М.А.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Глебова В.С.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Комаров Д.Е.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Потапов Р.Ю.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Трунов Б.Г.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0570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A48B42-7D95-36F4-4C6A-12C2156DC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EA5534-F8ED-7901-19FF-61574F002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4" y="1814586"/>
            <a:ext cx="10691265" cy="3739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Требуется реализовать интеллектуальную веб-систему, автоматизирующую процесс разметки изображений для использования в задачах компьютерного зрения</a:t>
            </a:r>
          </a:p>
          <a:p>
            <a:pPr marL="0" indent="0">
              <a:buNone/>
            </a:pPr>
            <a:r>
              <a:rPr lang="ru-RU" dirty="0"/>
              <a:t>Описание решаемой проблемы</a:t>
            </a:r>
            <a:r>
              <a:rPr lang="en-US" dirty="0"/>
              <a:t>: </a:t>
            </a:r>
            <a:r>
              <a:rPr lang="ru-RU" dirty="0"/>
              <a:t>Разметка данных является самым дорогим и медленным этапом разработки CV-моделей. Большая часть времени тратится на повторяющиеся действия: рисование боксов, масок и исправление ошибок. Поэтому требуется автоматизировать данный процесс, используя нейросетевую модель, способную давать приближенные предсказания и </a:t>
            </a:r>
            <a:r>
              <a:rPr lang="ru-RU" dirty="0" err="1"/>
              <a:t>дообучаться</a:t>
            </a:r>
            <a:r>
              <a:rPr lang="ru-RU" dirty="0"/>
              <a:t> на сделанных пользователем корректировках.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1218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90AC2E-C40D-CF08-E78F-540D748F5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Требования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DF1CBE-B18E-0B03-3551-113A1E319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438275"/>
            <a:ext cx="10691265" cy="4390263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ru-RU" sz="1200" b="1" dirty="0"/>
              <a:t>Функциональные требования</a:t>
            </a:r>
          </a:p>
          <a:p>
            <a:pPr indent="314325">
              <a:lnSpc>
                <a:spcPct val="170000"/>
              </a:lnSpc>
              <a:spcBef>
                <a:spcPts val="0"/>
              </a:spcBef>
            </a:pPr>
            <a:r>
              <a:rPr lang="ru-RU" sz="1200" dirty="0"/>
              <a:t>Программа должна работать на произвольном наборе изображений.</a:t>
            </a:r>
          </a:p>
          <a:p>
            <a:pPr indent="314325">
              <a:lnSpc>
                <a:spcPct val="170000"/>
              </a:lnSpc>
              <a:spcBef>
                <a:spcPts val="0"/>
              </a:spcBef>
            </a:pPr>
            <a:r>
              <a:rPr lang="ru-RU" sz="1200" dirty="0"/>
              <a:t>Программа должна иметь </a:t>
            </a:r>
            <a:r>
              <a:rPr lang="ru-RU" sz="1200" dirty="0" err="1"/>
              <a:t>иметь</a:t>
            </a:r>
            <a:r>
              <a:rPr lang="ru-RU" sz="1200" dirty="0"/>
              <a:t> возможность ручной разметки первых изображений.</a:t>
            </a:r>
          </a:p>
          <a:p>
            <a:pPr indent="314325">
              <a:lnSpc>
                <a:spcPct val="170000"/>
              </a:lnSpc>
              <a:spcBef>
                <a:spcPts val="0"/>
              </a:spcBef>
            </a:pPr>
            <a:r>
              <a:rPr lang="ru-RU" sz="1200" dirty="0"/>
              <a:t>На основании ручной разметки </a:t>
            </a:r>
            <a:r>
              <a:rPr lang="ru-RU" sz="1200" dirty="0" err="1"/>
              <a:t>программма</a:t>
            </a:r>
            <a:r>
              <a:rPr lang="ru-RU" sz="1200" dirty="0"/>
              <a:t> должна обучать нейросеть, которая продолжает обработку автоматический.</a:t>
            </a:r>
          </a:p>
          <a:p>
            <a:pPr indent="314325">
              <a:lnSpc>
                <a:spcPct val="170000"/>
              </a:lnSpc>
              <a:spcBef>
                <a:spcPts val="0"/>
              </a:spcBef>
            </a:pPr>
            <a:r>
              <a:rPr lang="ru-RU" sz="1200" dirty="0"/>
              <a:t>В случаях, когда нейросеть делает разметку неправильно, пользователю должна быть предоставлена возможность скорректировать разметку.</a:t>
            </a:r>
          </a:p>
          <a:p>
            <a:pPr indent="314325">
              <a:lnSpc>
                <a:spcPct val="170000"/>
              </a:lnSpc>
              <a:spcBef>
                <a:spcPts val="0"/>
              </a:spcBef>
            </a:pPr>
            <a:r>
              <a:rPr lang="ru-RU" sz="1200" dirty="0"/>
              <a:t>На основании корректировок пользователя нейросеть должна </a:t>
            </a:r>
            <a:r>
              <a:rPr lang="ru-RU" sz="1200" dirty="0" err="1"/>
              <a:t>дообучаться</a:t>
            </a:r>
            <a:r>
              <a:rPr lang="ru-RU" sz="1200" dirty="0"/>
              <a:t>, повышая точность разметки.</a:t>
            </a:r>
          </a:p>
          <a:p>
            <a:pPr indent="314325">
              <a:lnSpc>
                <a:spcPct val="170000"/>
              </a:lnSpc>
              <a:spcBef>
                <a:spcPts val="0"/>
              </a:spcBef>
            </a:pPr>
            <a:r>
              <a:rPr lang="ru-RU" sz="1200" dirty="0"/>
              <a:t>Случаи, когда нейросеть не может автоматический разметить изображение должны быть предоставлены пользователю для ручной разметки.</a:t>
            </a:r>
          </a:p>
          <a:p>
            <a:pPr indent="314325">
              <a:lnSpc>
                <a:spcPct val="170000"/>
              </a:lnSpc>
              <a:spcBef>
                <a:spcPts val="0"/>
              </a:spcBef>
            </a:pPr>
            <a:r>
              <a:rPr lang="ru-RU" sz="1200" dirty="0"/>
              <a:t>В ходе разметки участие человека должно постепенно уменьшаться, а модель должна обучаться и предоставлять более точную разметку.</a:t>
            </a:r>
          </a:p>
          <a:p>
            <a:pPr indent="314325">
              <a:lnSpc>
                <a:spcPct val="170000"/>
              </a:lnSpc>
              <a:spcBef>
                <a:spcPts val="0"/>
              </a:spcBef>
            </a:pPr>
            <a:r>
              <a:rPr lang="ru-RU" sz="1200" dirty="0"/>
              <a:t>Программа должна взаимодействовать с пользователем через </a:t>
            </a:r>
            <a:r>
              <a:rPr lang="ru-RU" sz="1200" dirty="0" err="1"/>
              <a:t>web</a:t>
            </a:r>
            <a:r>
              <a:rPr lang="ru-RU" sz="1200" dirty="0"/>
              <a:t>-интерфейс.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ru-RU" sz="1200" b="1" dirty="0"/>
              <a:t>Нефункциональные требования</a:t>
            </a:r>
          </a:p>
          <a:p>
            <a:pPr indent="314325">
              <a:lnSpc>
                <a:spcPct val="170000"/>
              </a:lnSpc>
              <a:spcBef>
                <a:spcPts val="0"/>
              </a:spcBef>
            </a:pPr>
            <a:r>
              <a:rPr lang="ru-RU" sz="1200" dirty="0"/>
              <a:t>Программа должна работать в течении продолжительного времени без необходимости вмешательства человека.</a:t>
            </a:r>
          </a:p>
          <a:p>
            <a:pPr indent="314325">
              <a:lnSpc>
                <a:spcPct val="170000"/>
              </a:lnSpc>
              <a:spcBef>
                <a:spcPts val="0"/>
              </a:spcBef>
            </a:pPr>
            <a:r>
              <a:rPr lang="ru-RU" sz="1200" dirty="0"/>
              <a:t>Точность предсказаний должна быть достаточной для того, чтобы использование программы значительно сокращало время, затрачиваемое на ручную разметку. </a:t>
            </a:r>
          </a:p>
        </p:txBody>
      </p:sp>
    </p:spTree>
    <p:extLst>
      <p:ext uri="{BB962C8B-B14F-4D97-AF65-F5344CB8AC3E}">
        <p14:creationId xmlns:p14="http://schemas.microsoft.com/office/powerpoint/2010/main" val="2620542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4E9999-52A2-B567-3F83-D8B5B39B7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Сценарии использования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80FF60-A35A-4156-FF50-13C6FA86D8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3766" y="1647428"/>
            <a:ext cx="11578234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Пользователь загружает произвольный неразмеченный датасет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Пользователь делает ручную разметку части изображений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Пользователь отправляет размеченные изображение модели для обучения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Пользователь запускает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авторазметку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пользователь получает результаты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авторазметки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которые отображаются в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-интерфейсе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Пользователь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коррекирует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полученную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авторазметку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отрправляет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результаты для дообучения модели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Процесс продолжается до тех пор, пока датасет не будет размечен полностью </a:t>
            </a:r>
          </a:p>
        </p:txBody>
      </p:sp>
    </p:spTree>
    <p:extLst>
      <p:ext uri="{BB962C8B-B14F-4D97-AF65-F5344CB8AC3E}">
        <p14:creationId xmlns:p14="http://schemas.microsoft.com/office/powerpoint/2010/main" val="4096732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D2CC90-A08A-4F3A-4079-54B92F4DC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Методы решения и используемые технологии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52E0F4-4510-A825-2BDF-A873D4104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качестве модели нейросети в проекте используется </a:t>
            </a:r>
            <a:r>
              <a:rPr lang="en-US" dirty="0" err="1"/>
              <a:t>Ultralytics</a:t>
            </a:r>
            <a:r>
              <a:rPr lang="en-US" dirty="0"/>
              <a:t> YOLO</a:t>
            </a:r>
            <a:r>
              <a:rPr lang="ru-RU" dirty="0"/>
              <a:t>. Данная модель достигает высокой точности обнаружения объектов благодаря новым методологическим инновациям в механизмах внимания и общей архитектуре сети, сохраняя при этом производительность в реальном времени.</a:t>
            </a:r>
          </a:p>
          <a:p>
            <a:r>
              <a:rPr lang="ru-RU" dirty="0"/>
              <a:t>В качестве </a:t>
            </a:r>
            <a:r>
              <a:rPr lang="en-US" dirty="0"/>
              <a:t>web-</a:t>
            </a:r>
            <a:r>
              <a:rPr lang="ru-RU" dirty="0"/>
              <a:t>сервера используется </a:t>
            </a:r>
            <a:r>
              <a:rPr lang="en-US" dirty="0"/>
              <a:t>Python + </a:t>
            </a:r>
            <a:r>
              <a:rPr lang="en-US" dirty="0" err="1"/>
              <a:t>FastAPI</a:t>
            </a:r>
            <a:endParaRPr lang="en-US" dirty="0"/>
          </a:p>
          <a:p>
            <a:r>
              <a:rPr lang="en-US" dirty="0"/>
              <a:t>Web-</a:t>
            </a:r>
            <a:r>
              <a:rPr lang="ru-RU" dirty="0"/>
              <a:t>страница</a:t>
            </a:r>
            <a:r>
              <a:rPr lang="en-US" dirty="0"/>
              <a:t>: Html</a:t>
            </a:r>
            <a:r>
              <a:rPr lang="ru-RU" dirty="0"/>
              <a:t>, </a:t>
            </a:r>
            <a:r>
              <a:rPr lang="en-US" dirty="0"/>
              <a:t>CSS</a:t>
            </a:r>
            <a:r>
              <a:rPr lang="ru-RU" dirty="0"/>
              <a:t>, </a:t>
            </a:r>
            <a:r>
              <a:rPr lang="en-US" dirty="0"/>
              <a:t>JS</a:t>
            </a:r>
            <a:r>
              <a:rPr lang="ru-RU" dirty="0"/>
              <a:t>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920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0ABD04-6620-9F7B-AF8A-2F417D394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Задачи, решенные в рамках текущей итерации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D52E36-D453-0F04-8B30-8F1113525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Реализован макет </a:t>
            </a:r>
            <a:r>
              <a:rPr lang="en-US" dirty="0"/>
              <a:t>web-</a:t>
            </a:r>
            <a:r>
              <a:rPr lang="ru-RU" dirty="0"/>
              <a:t>интерфейса</a:t>
            </a:r>
          </a:p>
          <a:p>
            <a:r>
              <a:rPr lang="ru-RU" dirty="0"/>
              <a:t>Реализовано </a:t>
            </a:r>
            <a:r>
              <a:rPr lang="en-US" dirty="0"/>
              <a:t>API </a:t>
            </a:r>
            <a:r>
              <a:rPr lang="ru-RU" dirty="0"/>
              <a:t>для разметки изображения при помощи заранее обученной модели и дообучения модели</a:t>
            </a:r>
          </a:p>
          <a:p>
            <a:r>
              <a:rPr lang="ru-RU" dirty="0"/>
              <a:t>Реализован сервер для отображения макета </a:t>
            </a:r>
            <a:r>
              <a:rPr lang="en-US" dirty="0"/>
              <a:t>web-</a:t>
            </a:r>
            <a:r>
              <a:rPr lang="ru-RU" dirty="0"/>
              <a:t>страницы</a:t>
            </a:r>
          </a:p>
          <a:p>
            <a:r>
              <a:rPr lang="ru-RU" dirty="0"/>
              <a:t>Был найден датасет, при помощи которого модель была протестирована</a:t>
            </a:r>
          </a:p>
        </p:txBody>
      </p:sp>
    </p:spTree>
    <p:extLst>
      <p:ext uri="{BB962C8B-B14F-4D97-AF65-F5344CB8AC3E}">
        <p14:creationId xmlns:p14="http://schemas.microsoft.com/office/powerpoint/2010/main" val="82289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34D433-7228-790E-282C-319E85F8B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Макет интерфейса (главная страница)</a:t>
            </a:r>
          </a:p>
        </p:txBody>
      </p:sp>
      <p:pic>
        <p:nvPicPr>
          <p:cNvPr id="9" name="Объект 8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7B03AFD-D69E-FA84-E95C-EF7AA00739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0447" y="1889859"/>
            <a:ext cx="8551106" cy="4176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87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0FF4A0-8BE7-DA97-138F-D96F9B19D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Макет интерфейса (Экран датасетов)</a:t>
            </a:r>
          </a:p>
        </p:txBody>
      </p:sp>
      <p:pic>
        <p:nvPicPr>
          <p:cNvPr id="5" name="Рисунок 4" descr="Изображение выглядит как текст, снимок экрана, Мультимедийн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A054FDF-AEC2-C2F3-028A-99E73DF14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85" y="1669501"/>
            <a:ext cx="8818830" cy="4274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267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953E35-19D4-6CC4-3159-A16B23087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Макет интерфейса (Экран Статистики)</a:t>
            </a:r>
          </a:p>
        </p:txBody>
      </p:sp>
      <p:pic>
        <p:nvPicPr>
          <p:cNvPr id="7" name="Объект 6" descr="Изображение выглядит как снимок экрана, текст, Мультимедийн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E4B276F-15EA-777B-6194-DA3783E87E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4764" y="1568195"/>
            <a:ext cx="9686871" cy="454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453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D4886A-B193-2BB7-C3CA-19F27F91E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Макет интерфейса (Рабочая область)</a:t>
            </a:r>
          </a:p>
        </p:txBody>
      </p:sp>
      <p:pic>
        <p:nvPicPr>
          <p:cNvPr id="5" name="Объект 4" descr="Изображение выглядит как текст, снимок экрана, дерево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761F6C0-010E-5A25-FCD3-38C2544F34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8049" y="1677554"/>
            <a:ext cx="5173224" cy="444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320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EF1088-D772-51A2-C992-ED0DBD40A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на следующую итерацию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372A9D-70F5-E617-F37D-471ED713D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Реализовать интерфейс разметки изображений</a:t>
            </a:r>
          </a:p>
          <a:p>
            <a:r>
              <a:rPr lang="ru-RU" dirty="0"/>
              <a:t>Реализовать отправку запросов с </a:t>
            </a:r>
            <a:r>
              <a:rPr lang="en-US" dirty="0"/>
              <a:t>web-</a:t>
            </a:r>
            <a:r>
              <a:rPr lang="ru-RU" dirty="0"/>
              <a:t>страницы на сервер (загрузка датасета, разметка датасета, дообучение, запросы для визуализации и т.д.)</a:t>
            </a:r>
          </a:p>
          <a:p>
            <a:r>
              <a:rPr lang="ru-RU" dirty="0"/>
              <a:t>Реализовать обработку запросов на сервере (те, которые еще не реализованы)</a:t>
            </a:r>
          </a:p>
          <a:p>
            <a:r>
              <a:rPr lang="ru-RU" dirty="0"/>
              <a:t>Обучить модель самостоятельно и провести ее тестирование, сделать выводы, об эффективности модели на датасетах с различными видами изображений </a:t>
            </a:r>
          </a:p>
        </p:txBody>
      </p:sp>
    </p:spTree>
    <p:extLst>
      <p:ext uri="{BB962C8B-B14F-4D97-AF65-F5344CB8AC3E}">
        <p14:creationId xmlns:p14="http://schemas.microsoft.com/office/powerpoint/2010/main" val="2629268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DCB6FC-A91B-21B5-7D0A-25BFDB03C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6323" y="2775204"/>
            <a:ext cx="10691265" cy="1307592"/>
          </a:xfrm>
        </p:spPr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82901891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501</Words>
  <Application>Microsoft Office PowerPoint</Application>
  <PresentationFormat>Широкоэкранный</PresentationFormat>
  <Paragraphs>54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Aptos</vt:lpstr>
      <vt:lpstr>Arial</vt:lpstr>
      <vt:lpstr>Calisto MT</vt:lpstr>
      <vt:lpstr>Univers Condensed</vt:lpstr>
      <vt:lpstr>ChronicleVTI</vt:lpstr>
      <vt:lpstr>Интеллектуальная система разметки изображений (markup-web) </vt:lpstr>
      <vt:lpstr>Постановка задачи</vt:lpstr>
      <vt:lpstr>Требования</vt:lpstr>
      <vt:lpstr>Сценарии использования</vt:lpstr>
      <vt:lpstr>Методы решения и используемые технологии</vt:lpstr>
      <vt:lpstr>Задачи, решенные в рамках текущей итерации</vt:lpstr>
      <vt:lpstr>Макет интерфейса (главная страница)</vt:lpstr>
      <vt:lpstr>Макет интерфейса (Экран датасетов)</vt:lpstr>
      <vt:lpstr>Макет интерфейса (Экран Статистики)</vt:lpstr>
      <vt:lpstr>Макет интерфейса (Рабочая область)</vt:lpstr>
      <vt:lpstr>План на следующую итерацию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Alcomarxism</dc:creator>
  <cp:lastModifiedBy>Alcomarxism</cp:lastModifiedBy>
  <cp:revision>8</cp:revision>
  <dcterms:created xsi:type="dcterms:W3CDTF">2026-02-25T12:48:09Z</dcterms:created>
  <dcterms:modified xsi:type="dcterms:W3CDTF">2026-02-25T14:59:49Z</dcterms:modified>
</cp:coreProperties>
</file>